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HOBBYTAN 프로젝트</a:t>
            </a:r>
            <a:br/>
            <a:r>
              <a:t>진행 현황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A9A9A"/>
                </a:solidFill>
              </a:defRPr>
            </a:pPr>
            <a:r>
              <a:t>2026년 2월 24일  |  HOBBYTAN-COUNCIL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</a:defRPr>
            </a:pPr>
            <a:r>
              <a:t>작성: PO-TAN 🧭 × PM-TAN 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2개 프로젝트 동시 진행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① hobbytan.com 웹사이트 수정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   6건 코드 수정 완료 + CEO 컨펌 완료</a:t>
            </a:r>
          </a:p>
          <a:p>
            <a:pPr>
              <a:spcBef>
                <a:spcPts val="600"/>
              </a:spcBef>
              <a:defRPr sz="1600" b="0">
                <a:solidFill>
                  <a:srgbClr val="10B981"/>
                </a:solidFill>
              </a:defRPr>
            </a:pPr>
            <a:r>
              <a:t>   → 최종 반영 + 배포 대기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② Super Workshop 대시보드 MVP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   프로토타입 v0.1 완성, QA 83% PASS</a:t>
            </a:r>
          </a:p>
          <a:p>
            <a:pPr>
              <a:spcBef>
                <a:spcPts val="600"/>
              </a:spcBef>
              <a:defRPr sz="1600" b="0">
                <a:solidFill>
                  <a:srgbClr val="10B981"/>
                </a:solidFill>
              </a:defRPr>
            </a:pPr>
            <a:r>
              <a:t>   → Phase 2 진입 준비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CEO 컨펌 (2026-02-24)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</a:defRPr>
            </a:pPr>
            <a:r>
              <a:t>✅  앵커링 가격 ₩1,080만 — 승인</a:t>
            </a: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</a:defRPr>
            </a:pPr>
            <a:r>
              <a:t>✅  팔로업 기간 90일 — 확정</a:t>
            </a:r>
          </a:p>
          <a:p>
            <a:pPr>
              <a:spcBef>
                <a:spcPts val="600"/>
              </a:spcBef>
              <a:defRPr sz="1800" b="0">
                <a:solidFill>
                  <a:srgbClr val="F59E0B"/>
                </a:solidFill>
              </a:defRPr>
            </a:pPr>
            <a:r>
              <a:t>⚠️  다음 기수 시작 날짜 — 대기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</a:defRPr>
            </a:pPr>
            <a:r>
              <a:t>① hobbytan.com 웹사이트 수정 — 6건 완료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날짜 오류 수정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2344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9A"/>
                </a:solidFill>
              </a:defRPr>
            </a:pPr>
            <a:r>
              <a:t>CTA.tsx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234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"2025년 2월 10일" → "다음 기수 모집 중"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38528"/>
            <a:ext cx="10515600" cy="64008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8424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8424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₩500만 문구 삭제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98424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9A"/>
                </a:solidFill>
              </a:defRPr>
            </a:pPr>
            <a:r>
              <a:t>Curriculum.tsx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98424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"₩500만원 상당" → "프리미엄 혜택 포함"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88336"/>
            <a:ext cx="10515600" cy="64008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3405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3405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가격 명확화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73405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9A"/>
                </a:solidFill>
              </a:defRPr>
            </a:pPr>
            <a:r>
              <a:t>Curriculum.tsx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73405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앵커링 ₩1,080만 적용 완료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438144"/>
            <a:ext cx="10515600" cy="64008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83863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483863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오타 수정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483863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9A"/>
                </a:solidFill>
              </a:defRPr>
            </a:pPr>
            <a:r>
              <a:t>WhyNow.tsx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483863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"빼앗아가고" → "빼앗아 가고"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87952"/>
            <a:ext cx="10515600" cy="64008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33672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3367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팔로업 통일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2336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9A"/>
                </a:solidFill>
              </a:defRPr>
            </a:pPr>
            <a:r>
              <a:t>4개 파일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23367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"1개월" → "90일" 통일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937760"/>
            <a:ext cx="10515600" cy="64008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9834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잔여 좌석 정리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983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9A"/>
                </a:solidFill>
              </a:defRPr>
            </a:pPr>
            <a:r>
              <a:t>Curriculum.tsx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983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"잔여 2자리" → "모집 중"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618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9A9A"/>
                </a:solidFill>
              </a:defRPr>
            </a:pPr>
            <a:r>
              <a:t>GitHub: feature/web-fixes-and-superworkshop  |  빌드 성공  |  Push 완료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</a:defRPr>
            </a:pPr>
            <a:r>
              <a:t>앵커링 가격 전략 — CEO 승인 완료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BEFORE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앵커: ₩730만 → 실가: ₩160만/인</a:t>
            </a:r>
          </a:p>
          <a:p>
            <a:pPr>
              <a:spcBef>
                <a:spcPts val="600"/>
              </a:spcBef>
              <a:defRPr sz="1400" b="0">
                <a:solidFill>
                  <a:srgbClr val="9A9A9A"/>
                </a:solidFill>
              </a:defRPr>
            </a:pPr>
            <a:r>
              <a:t>문제: 앵커가 낮아 할인 효과 미미</a:t>
            </a:r>
          </a:p>
          <a:p>
            <a:pPr>
              <a:spcBef>
                <a:spcPts val="600"/>
              </a:spcBef>
              <a:defRPr sz="1400" b="0">
                <a:solidFill>
                  <a:srgbClr val="EF4444"/>
                </a:solidFill>
              </a:defRPr>
            </a:pPr>
            <a:r>
              <a:t>₩730만 &lt; ₩800만(실가) = 역효과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188720"/>
            <a:ext cx="5029200" cy="2286000"/>
          </a:xfrm>
          <a:prstGeom prst="rect">
            <a:avLst/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AFTER (승인)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앵커: ₩1,080만 → 실가: ₩800만</a:t>
            </a:r>
          </a:p>
          <a:p>
            <a:pPr>
              <a:spcBef>
                <a:spcPts val="600"/>
              </a:spcBef>
              <a:defRPr sz="1600" b="1">
                <a:solidFill>
                  <a:srgbClr val="10B981"/>
                </a:solidFill>
              </a:defRPr>
            </a:pPr>
            <a:r>
              <a:t>26% 할인 프레이밍 효과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</a:defRPr>
            </a:pPr>
            <a:r>
              <a:t>신규: AI 클럽 평생 멤버십 ₩350만 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7개 항목 시장가 내역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5주 커리큘럼 + 교재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297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</a:defRPr>
            </a:pPr>
            <a:r>
              <a:t>₩150만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온라인 코칭 10회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617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</a:defRPr>
            </a:pPr>
            <a:r>
              <a:t>₩150만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1박 2일 워크샵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93775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</a:defRPr>
            </a:pPr>
            <a:r>
              <a:t>₩200만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7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AI 리더 특강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25779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</a:defRPr>
            </a:pPr>
            <a:r>
              <a:t>₩50만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778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90일 팔로업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5778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</a:defRPr>
            </a:pPr>
            <a:r>
              <a:t>₩100만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978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프롬프트 템플릿 150종+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8978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</a:defRPr>
            </a:pPr>
            <a:r>
              <a:t>₩80만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2179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AI 클럽 평생 멤버십 (신규)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621791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</a:defRPr>
            </a:pPr>
            <a:r>
              <a:t>₩350만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6537959"/>
            <a:ext cx="548640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5836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합계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65836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10B981"/>
                </a:solidFill>
              </a:defRPr>
            </a:pPr>
            <a:r>
              <a:t>₩1,080만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② Super Workshop 대시보드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제품 개요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URL: hobbytan.com/superworkshop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목적: 5주 워크샵 운영 대시보드 + 수강생 포털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사용자: Admin / Team Lead / Student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핵심 기능 5개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703320"/>
            <a:ext cx="5029200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🔐  Google OAuth 로그인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97680"/>
            <a:ext cx="5029200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📚  커리큘럼 0~5주차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892040"/>
            <a:ext cx="5029200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📊  팀별 진행 상황판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486400"/>
            <a:ext cx="5029200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📎  과제 업로드 (file/text/link)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080760"/>
            <a:ext cx="5029200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126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💬  커뮤니티 게시판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A9A9A"/>
                </a:solidFill>
              </a:defRPr>
            </a:pPr>
            <a:r>
              <a:t>MVP 프로토타입</a:t>
            </a:r>
            <a:br/>
            <a:r>
              <a:t>스크린샷 영역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</a:defRPr>
            </a:pPr>
            <a:r>
              <a:t>MVP QA 결과 — 83%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029200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43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Google OAuth 로그인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5029200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37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역할별 대시보드 분기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5029200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31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커리큘럼 조회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80360"/>
            <a:ext cx="5029200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9260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팀별 진행 상황판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5029200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2043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52043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팀 상세 (멤버 진행률)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69080"/>
            <a:ext cx="5029200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114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과제 업로드 (3종)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097280"/>
            <a:ext cx="5029200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143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1143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수강생 대시보드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691640"/>
            <a:ext cx="5029200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737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737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커뮤니티 게시판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286000"/>
            <a:ext cx="5029200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331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</a:defRPr>
            </a:pPr>
            <a: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331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Admin 관리 패널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880360"/>
            <a:ext cx="5029200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9260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9E0B"/>
                </a:solidFill>
              </a:defRPr>
            </a:pPr>
            <a:r>
              <a:t>⚠️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9260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Admin 커리큘럼 CRUD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474720"/>
            <a:ext cx="5029200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52043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4444"/>
                </a:solidFill>
              </a:defRPr>
            </a:pPr>
            <a:r>
              <a:t>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52043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뒤처진 팀 하이라이트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069080"/>
            <a:ext cx="5029200" cy="5029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114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9E0B"/>
                </a:solidFill>
              </a:defRPr>
            </a:pPr>
            <a:r>
              <a:t>⚠️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114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과제 피드백 표시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074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0B981"/>
                </a:solidFill>
              </a:defRPr>
            </a:pPr>
            <a:r>
              <a:t>MVP 판정: PASS ✅  |  커버리지: 10/12 (83%)  |  미구현 2건은 Phase 2 범위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855F7"/>
                </a:solidFill>
              </a:defRPr>
            </a:pPr>
            <a:r>
              <a:t>기술 스택 현황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32004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hobbytan.com (루트)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프레임워크:  Next.js 14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React:  18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라우팅:  App Router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Firebase:  Admin SDK (서버)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CSS:  Tailwind 3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배포:  Firebase Hosting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188720"/>
            <a:ext cx="5029200" cy="32004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super-wks (서브폴더)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프레임워크:  Vite 7 + React 19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React:  19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라우팅:  react-router-dom 7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Firebase:  Client SDK 12</a:t>
            </a:r>
          </a:p>
          <a:p>
            <a:pPr>
              <a:spcBef>
                <a:spcPts val="600"/>
              </a:spcBef>
              <a:defRPr sz="1500" b="0">
                <a:solidFill>
                  <a:srgbClr val="CCCCCC"/>
                </a:solidFill>
              </a:defRPr>
            </a:pPr>
            <a:r>
              <a:t>CSS:  Tailwind 4</a:t>
            </a:r>
          </a:p>
          <a:p>
            <a:pPr>
              <a:spcBef>
                <a:spcPts val="600"/>
              </a:spcBef>
              <a:defRPr sz="1500" b="0">
                <a:solidFill>
                  <a:srgbClr val="F59E0B"/>
                </a:solidFill>
              </a:defRPr>
            </a:pPr>
            <a:r>
              <a:t>배포:  TBD (통합 필요)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solidFill>
            <a:srgbClr val="1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800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59E0B"/>
                </a:solidFill>
              </a:defRPr>
            </a:pPr>
            <a:r>
              <a:t>⚠️ 아키텍처 미스매치: 루트와 서브폴더가 완전히 다른 스택 → 통합/배포 전략 결정 필요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</a:defRPr>
            </a:pPr>
            <a:r>
              <a:t>남은 블로커 및 의사결정 필요 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515600" cy="1097280"/>
          </a:xfrm>
          <a:prstGeom prst="rect">
            <a:avLst/>
          </a:prstGeom>
          <a:solidFill>
            <a:srgbClr val="1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CEO 결정 대기 (1건)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📅  다음 기수 시작 날짜 — 구체 날짜 필요 (현재 placeholder 상태)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10515600" cy="2286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기술 블로커 (2건)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🔑  Firebase 프로젝트 접근 권한 (Auth / Firestore / Storage / Hosting)</a:t>
            </a:r>
          </a:p>
          <a:p>
            <a:pPr>
              <a:spcBef>
                <a:spcPts val="600"/>
              </a:spcBef>
              <a:defRPr sz="1400" b="0">
                <a:solidFill>
                  <a:srgbClr val="9A9A9A"/>
                </a:solidFill>
              </a:defRPr>
            </a:pPr>
            <a:r>
              <a:t>     → Phase 2 진입 불가. Mock → 실데이터 전환 차단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</a:defRPr>
            </a:pPr>
            <a:r>
              <a:t>🏗️  super-wks ↔ 루트 프로젝트 통합/배포 전략</a:t>
            </a:r>
          </a:p>
          <a:p>
            <a:pPr>
              <a:spcBef>
                <a:spcPts val="600"/>
              </a:spcBef>
              <a:defRPr sz="1400" b="0">
                <a:solidFill>
                  <a:srgbClr val="9A9A9A"/>
                </a:solidFill>
              </a:defRPr>
            </a:pPr>
            <a:r>
              <a:t>     → 서브도메인 vs 서브패스 vs 별도 호스팅 결정 필요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</a:defRPr>
            </a:pPr>
            <a:r>
              <a:t>로드맵 —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515600" cy="1417319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143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웹 수정 배포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143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9A"/>
                </a:solidFill>
              </a:defRPr>
            </a:pPr>
            <a:r>
              <a:t>날짜 확정 즉시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1143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1-2일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앵커링 ₩1,080만 반영 완료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783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팔로업 90일 반영 완료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103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날짜 확정 → 코드 반영 → PR → merge → 배포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39"/>
            <a:ext cx="10515600" cy="1417319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517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6517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Firestore 연동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517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9A"/>
                </a:solidFill>
              </a:defRPr>
            </a:pPr>
            <a:r>
              <a:t>블로커 해소 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6517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5-7일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97179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Mock → Firestore 실데이터 마이그레이션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29183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Firebase Auth 실 연동 (Google OAuth)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61187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Admin 커리큘럼 CRUD 완성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10515600" cy="173736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</a:defRPr>
            </a:pPr>
            <a:r>
              <a:t>Phase 3-4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Full 버전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A9A9A"/>
                </a:solidFill>
              </a:defRPr>
            </a:pPr>
            <a:r>
              <a:t>Phase 2 완료 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</a:defRPr>
            </a:pPr>
            <a:r>
              <a:t>5-7일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480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커뮤니티 댓글/피드백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800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알림 시스템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5120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수료증 자동 발급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440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뒤처진 팀 자동 하이라이트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126480"/>
            <a:ext cx="10515600" cy="548640"/>
          </a:xfrm>
          <a:prstGeom prst="rect">
            <a:avLst/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0B981"/>
                </a:solidFill>
              </a:defRPr>
            </a:pPr>
            <a:r>
              <a:t>전체 예상: 약 2~2.5주 (블로커 해소 시점 기준)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</a:defRPr>
            </a:pPr>
            <a:r>
              <a:t>에이전트별 기여도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303520" cy="2286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🧭 PO-TAN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</a:defRPr>
            </a:pPr>
            <a:r>
              <a:t>Product 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PRD 작성 (5 핵심 기능, MVP/Full 2-phase)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UX 분석 14슬라이드 PPT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앵커링 가격 전략 제안 (₩1,080만)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QA 검수 + 보고서 작성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188720"/>
            <a:ext cx="5303520" cy="2286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📋 PM-TAN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</a:defRPr>
            </a:pPr>
            <a:r>
              <a:t>Project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태스크 10건 등록 + 추적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스프린트/스크럼 체계 수립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진행 관리 + chronicle 기록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5303520" cy="2286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404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</a:defRPr>
            </a:pPr>
            <a:r>
              <a:t>⚡ DEV-TAN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</a:defRPr>
            </a:pPr>
            <a:r>
              <a:t>Developer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MVP 프로토타입 개발 (7페이지)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웹 수정 6건 코드 구현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GitHub 커밋 + 빌드 성공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749039"/>
            <a:ext cx="5303520" cy="2286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8404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🎖️ DEO-TAN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A9A9A"/>
                </a:solidFill>
              </a:defRPr>
            </a:pPr>
            <a:r>
              <a:t>Chief of Staff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CEO 지시 전파 + 조율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워크플로우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• 블로커 에스컬레이션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hobbytan.com은 즉시 배포 가능한 수정 상태이며,</a:t>
            </a:r>
          </a:p>
          <a:p>
            <a:pPr>
              <a:spcBef>
                <a:spcPts val="600"/>
              </a:spcBef>
              <a:defRPr sz="2200" b="1">
                <a:solidFill>
                  <a:srgbClr val="10B981"/>
                </a:solidFill>
              </a:defRPr>
            </a:pPr>
            <a:r>
              <a:t>Super Workshop MVP는 Phase 2 진입 준비 완료.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</a:defRPr>
            </a:pPr>
            <a:r>
              <a:t>CEO 액션 아이템 (3건)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10515600" cy="64008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429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다음 기수 시작 날짜 확정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429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</a:defRPr>
            </a:pPr>
            <a:r>
              <a:t>→ 즉시 코드 반영 + 배포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60520"/>
            <a:ext cx="10515600" cy="64008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206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Firebase 프로젝트 접근 권한 부여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</a:defRPr>
            </a:pPr>
            <a:r>
              <a:t>→ Phase 2 진입 가능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937759"/>
            <a:ext cx="10515600" cy="64008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834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🏗️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98347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super-wks 배포 전략 방향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98347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</a:defRPr>
            </a:pPr>
            <a:r>
              <a:t>→ 프로덕션 배포 가능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8075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위 3건 결정 시 즉시 다음 단계 진행 가능합니다.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